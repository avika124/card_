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84848" y="4572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68896" y="4572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52944" y="4572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36992" y="4572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4572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9601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4848" y="9601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68896" y="9601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2944" y="9601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36992" y="9601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9601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46304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146304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8896" y="146304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52944" y="146304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6992" y="146304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46304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96596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196596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68896" y="196596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944" y="196596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196596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96596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46888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4848" y="246888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8896" y="246888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2944" y="246888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36992" y="246888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246888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9718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84848" y="29718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68896" y="29718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52944" y="29718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6992" y="29718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297180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4747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84848" y="34747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68896" y="34747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52944" y="34747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36992" y="34747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3474720"/>
            <a:ext cx="54864" cy="54864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502920"/>
            <a:ext cx="164592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502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PLATFORM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4048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</a:t>
            </a:r>
            <a:endParaRPr lang="en-US" sz="5000" dirty="0"/>
          </a:p>
        </p:txBody>
      </p:sp>
      <p:sp>
        <p:nvSpPr>
          <p:cNvPr id="48" name="Text 46"/>
          <p:cNvSpPr/>
          <p:nvPr/>
        </p:nvSpPr>
        <p:spPr>
          <a:xfrm>
            <a:off x="384048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Platform</a:t>
            </a:r>
            <a:endParaRPr lang="en-US" sz="5000" dirty="0"/>
          </a:p>
        </p:txBody>
      </p:sp>
      <p:sp>
        <p:nvSpPr>
          <p:cNvPr id="49" name="Text 47"/>
          <p:cNvSpPr/>
          <p:nvPr/>
        </p:nvSpPr>
        <p:spPr>
          <a:xfrm>
            <a:off x="384048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regulatory analysis · Review workflow · Conflict detection · Live monitoring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84048" y="3246120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03120" y="3246120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031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 / Reg Z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22192" y="3246120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2219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/ Reg B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41264" y="3246120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41264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60336" y="3246120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0336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/ AML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84048" y="3630168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103120" y="3630168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0312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22192" y="3630168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22192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FDCPA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41264" y="3630168"/>
            <a:ext cx="1554480" cy="274320"/>
          </a:xfrm>
          <a:prstGeom prst="rect">
            <a:avLst/>
          </a:prstGeom>
          <a:solidFill>
            <a:srgbClr val="2E4880"/>
          </a:solidFill>
          <a:ln w="6350">
            <a:solidFill>
              <a:srgbClr val="3A5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41264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3761"/>
          </a:solidFill>
          <a:ln w="12700">
            <a:solidFill>
              <a:srgbClr val="24376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81431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  ·  RAG Engine  ·  ChromaDB  ·  FastAPI  · 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broken for most card teams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4173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417320"/>
            <a:ext cx="50292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0704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0704" y="192938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email Word docs back and forth. Reviews take days or weeks, not minutes.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5152" y="14173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417320"/>
            <a:ext cx="50292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58384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58384" y="192938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tracks what was promised in Q1 marketing when Q3 policy changes contradict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017520"/>
            <a:ext cx="50292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0704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0704" y="352958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 are discovered during exams, not when rules are updated.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5152" y="30175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3017520"/>
            <a:ext cx="50292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58384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58384" y="352958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what, when, and why? Nobody knows. Examiners ask. You guess.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compliance workflow.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for credit card compliance teams — from first draft to examiner-ready audit trail.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600200"/>
            <a:ext cx="1965960" cy="320040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600200"/>
            <a:ext cx="19659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719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523744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checks every document against 9 regulatory frameworks and cites exact CFR sections.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600200"/>
            <a:ext cx="1965960" cy="320040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600200"/>
            <a:ext cx="196596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719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523744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marketing and policies stored as a vector database — new docs checked for contradictions.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1600200"/>
            <a:ext cx="1965960" cy="320040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600200"/>
            <a:ext cx="1965960" cy="54864"/>
          </a:xfrm>
          <a:prstGeom prst="rect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719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86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27448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27448" y="2523744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Pending → Compliance Review → Approved/Rejected. Full role-based access.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11696" y="1600200"/>
            <a:ext cx="1965960" cy="320040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600200"/>
            <a:ext cx="1965960" cy="548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1719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48856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Monitor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48856" y="2523744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CFPB, Fed, FFIEC, OCC automatically. Alerts your team the moment rules change.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5029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 every document and returns severity-rated findings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regulatory citations — not just flags, but specific CFR sections.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6596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756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3317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/ Deceptive / Abusive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59152" y="19659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59152" y="196596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0756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 / Reg Z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3317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in Lending + CARD 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61104" y="19659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96596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0756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/ Reg 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70832" y="23317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Credit Opportunity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443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FCRA / Reg 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200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Credit Reporting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59152" y="283464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59152" y="283464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9443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/ AML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68880" y="3200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+ OFAC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61104" y="283464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61104" y="283464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29443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70832" y="320040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Standard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0332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406908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Servicemembers Civil Relief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59152" y="370332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59152" y="370332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68880" y="406908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FDCPA / Collection Practices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61104" y="370332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61104" y="3703320"/>
            <a:ext cx="17373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70832" y="406908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63640" y="457200"/>
            <a:ext cx="265176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457200"/>
            <a:ext cx="265176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594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finding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82512" y="960120"/>
            <a:ext cx="2395728" cy="987552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82512" y="960120"/>
            <a:ext cx="36576" cy="9875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7376" y="1051560"/>
            <a:ext cx="47548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105156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49440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 / Reg Z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55664" y="1307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missing from headline ad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55664" y="1600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 CFR 1026.16(b)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82512" y="2130552"/>
            <a:ext cx="2395728" cy="987552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82512" y="2130552"/>
            <a:ext cx="36576" cy="987552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37376" y="2221992"/>
            <a:ext cx="475488" cy="20116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7376" y="222199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949440" y="2221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/ Reg 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55664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anti-discrimination statement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55664" y="2770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 CFR 1026.16(b)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82512" y="3300984"/>
            <a:ext cx="2395728" cy="987552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82512" y="3300984"/>
            <a:ext cx="36576" cy="9875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37376" y="3392424"/>
            <a:ext cx="47548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37376" y="339242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49440" y="3392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55664" y="3648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Servicemember clause — compliant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55664" y="3941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 CFR 1026.16(b)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prior marketing, policies, agreements, and scripts. Every new document is automatically checked for contradictions.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737360"/>
            <a:ext cx="2606040" cy="530352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Emails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737360"/>
            <a:ext cx="2606040" cy="530352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85032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6752" y="1737360"/>
            <a:ext cx="2606040" cy="530352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Policies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395728"/>
            <a:ext cx="2606040" cy="530352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Scripts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82112" y="2395728"/>
            <a:ext cx="2606040" cy="530352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85032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16752" y="2395728"/>
            <a:ext cx="2606040" cy="530352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conflict detected: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429000"/>
            <a:ext cx="3977640" cy="14630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 SAYS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"Earn unlimited 1.5% cash back — rewards never expire"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Freedom Unlimited Email Campaign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25696" y="4059936"/>
            <a:ext cx="292608" cy="3657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52544" y="3931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73168" y="3429000"/>
            <a:ext cx="3977640" cy="1463040"/>
          </a:xfrm>
          <a:prstGeom prst="rect">
            <a:avLst/>
          </a:prstGeom>
          <a:solidFill>
            <a:srgbClr val="3A2020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3429000"/>
            <a:ext cx="397764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POLICY SAYS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9472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"Points forfeited on account closure with no grace period"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Program Agreement v2.3  ·  CONFLICT: UDAAP risk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5029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47088" y="1874520"/>
            <a:ext cx="2011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1572768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371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3898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or legal submits document via web UI, file upload, or 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874520"/>
            <a:ext cx="2011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207008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1207008"/>
            <a:ext cx="1572768" cy="54864"/>
          </a:xfrm>
          <a:prstGeom prst="rect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5456" y="1371600"/>
            <a:ext cx="548640" cy="548640"/>
          </a:xfrm>
          <a:prstGeom prst="ellipse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4832" y="20482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2395728"/>
            <a:ext cx="13898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checks against 9 regulations + company memory. Results in &lt; 60s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85232" y="1874520"/>
            <a:ext cx="2011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1207008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12464" y="1207008"/>
            <a:ext cx="1572768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1371600"/>
            <a:ext cx="548640" cy="5486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03904" y="20482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03904" y="2395728"/>
            <a:ext cx="13898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reviews findings, marks false positives, adds notes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04304" y="1874520"/>
            <a:ext cx="2011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1207008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31536" y="1207008"/>
            <a:ext cx="1572768" cy="548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371600"/>
            <a:ext cx="548640" cy="548640"/>
          </a:xfrm>
          <a:prstGeom prst="ellipse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22976" y="20482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2395728"/>
            <a:ext cx="13898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Reject · Escalate to Legal · Mark In Review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50608" y="1207008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207008"/>
            <a:ext cx="1572768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1371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42048" y="20482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42048" y="2395728"/>
            <a:ext cx="13898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Submitter notified via in-app + Slack + email with full decision detail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8321040" cy="77724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554480"/>
                <a:gridCol w="1645920"/>
                <a:gridCol w="1280160"/>
                <a:gridCol w="1005840"/>
              </a:tblGrid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Submit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Review Queue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Approve / Reject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Analytics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Settings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4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D4F"/>
                          </a:solidFill>
                        </a:rPr>
                        <a:t>Admin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D4F"/>
                          </a:solidFill>
                        </a:rPr>
                        <a:t>Compliance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D4F"/>
                          </a:solidFill>
                        </a:rPr>
                        <a:t>Legal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D4F"/>
                          </a:solidFill>
                        </a:rPr>
                        <a:t>Submitter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Change Monitor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government websites 24/7. Alerts your compliance team the moment rules change — before your next exam.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719072"/>
            <a:ext cx="1572768" cy="1920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719072"/>
            <a:ext cx="1572768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828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 Z  ·  UDAAP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25603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 B  ·  FCRA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9443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FDCPA  ·  SCRA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66544" y="1719072"/>
            <a:ext cx="1572768" cy="1920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66544" y="1719072"/>
            <a:ext cx="1572768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1828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57984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SR 11-7 Model Risk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57984" y="25603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Consumer Affairs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85616" y="1719072"/>
            <a:ext cx="1572768" cy="1920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719072"/>
            <a:ext cx="1572768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1828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77056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BSA/AML Exam Manual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77056" y="25603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CIP Requirements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04688" y="1719072"/>
            <a:ext cx="1572768" cy="1920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4688" y="1719072"/>
            <a:ext cx="1572768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1828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96128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Comptroller's Handbook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96128" y="25603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Consumer Compliance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23760" y="1719072"/>
            <a:ext cx="1572768" cy="1920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719072"/>
            <a:ext cx="1572768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828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SSC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17627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DSS v4.0 Standards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25603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Security Bulletins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change is detected 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4133088"/>
            <a:ext cx="2011680" cy="777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9536" y="4206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" y="4434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compliance, legal &amp; admin users notified immediately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23744" y="4133088"/>
            <a:ext cx="2011680" cy="777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33472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035808" y="4206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Message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35808" y="4434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with regulation name, source, and direct link to view change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0016" y="4133088"/>
            <a:ext cx="2011680" cy="777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9744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12080" y="4206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0" y="4434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notification with affected materials and action link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76288" y="4133088"/>
            <a:ext cx="2011680" cy="7772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986016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388352" y="4206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88352" y="4434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event recorded with timestamp for examiner review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5029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Audit Trail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1920240" cy="1005840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975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flagged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23744" y="1353312"/>
            <a:ext cx="1920240" cy="1005840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23744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F8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23744" y="1975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detected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1353312"/>
            <a:ext cx="1920240" cy="1005840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00016" y="1975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6288" y="1353312"/>
            <a:ext cx="1920240" cy="1005840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76288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76288" y="1975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analysis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breakdown by regulation — see which frameworks you fail most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273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trends over time — track improvement quarter over quarter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027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21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issues leaderboard — prioritize what to fix across the portfolio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50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⬇️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9684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— submissions, findings, and audit log as 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315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DOCX reports — yellow=changed, red=deleted, green=added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2578608"/>
            <a:ext cx="32918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150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every action recorded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035808"/>
            <a:ext cx="3291840" cy="301752"/>
          </a:xfrm>
          <a:prstGeom prst="rect">
            <a:avLst/>
          </a:prstGeom>
          <a:solidFill>
            <a:srgbClr val="EEF4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090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3090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compliance@co.com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21040" y="3090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77840" y="3383280"/>
            <a:ext cx="32918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Submit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34381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marketing@co.com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21040" y="3438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3730752"/>
            <a:ext cx="3291840" cy="301752"/>
          </a:xfrm>
          <a:prstGeom prst="rect">
            <a:avLst/>
          </a:prstGeom>
          <a:solidFill>
            <a:srgbClr val="EEF4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785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3785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legal@co.com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21040" y="3785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77840" y="4078224"/>
            <a:ext cx="32918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4133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Reg Change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40880" y="4133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321040" y="4133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77840" y="4425696"/>
            <a:ext cx="3291840" cy="301752"/>
          </a:xfrm>
          <a:prstGeom prst="rect">
            <a:avLst/>
          </a:prstGeom>
          <a:solidFill>
            <a:srgbClr val="EEF4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Memory add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4088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admin@co.com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321040" y="4480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OF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Developers Too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accessible via REST API. Four deployment options. Open source.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664208"/>
            <a:ext cx="2011680" cy="32918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64208"/>
            <a:ext cx="201168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5564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1214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(claude-sonnet-4)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via ChromaDB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regulation indexing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6301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Context-injected prompts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41330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citation extraction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1664208"/>
            <a:ext cx="2011680" cy="32918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23744" y="1664208"/>
            <a:ext cx="2011680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75564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1214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platform (9 pages)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+ /docs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equivalent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6301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single file + batch processor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41330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color-coded report export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1664208"/>
            <a:ext cx="2011680" cy="32918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1664208"/>
            <a:ext cx="2011680" cy="50292"/>
          </a:xfrm>
          <a:prstGeom prst="rect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75564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21214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incoming webhooks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(HTML templates)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audit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36301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monitor daemon (24h cycle)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41330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Webhook-ready event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76288" y="1664208"/>
            <a:ext cx="2011680" cy="3291840"/>
          </a:xfrm>
          <a:prstGeom prst="rect">
            <a:avLst/>
          </a:prstGeom>
          <a:solidFill>
            <a:srgbClr val="24376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76288" y="1664208"/>
            <a:ext cx="2011680" cy="50292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175564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04304" y="21214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(1-click)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04304" y="26243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docker-compose ready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04304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any cloud provider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04304" y="36301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included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04304" y="41330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Environment-variable config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645152"/>
            <a:ext cx="8430768" cy="347472"/>
          </a:xfrm>
          <a:prstGeom prst="rect">
            <a:avLst/>
          </a:prstGeom>
          <a:solidFill>
            <a:srgbClr val="2E4880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/check/full  ·  POST /memory/add/file  ·  POST /kb/ingest/url  ·  GET /kb/retrieve  ·  DELETE /memory/document/{name}  ·  GET /analytics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5029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2240280"/>
            <a:ext cx="219456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1536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73352"/>
            <a:ext cx="530352" cy="53035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" y="23042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259689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· Upload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Image / URL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47872" y="2240280"/>
            <a:ext cx="219456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554480"/>
            <a:ext cx="1536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673352"/>
            <a:ext cx="530352" cy="530352"/>
          </a:xfrm>
          <a:prstGeom prst="ellipse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23042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48256" y="259689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regulations checked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66944" y="2240280"/>
            <a:ext cx="219456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554480"/>
            <a:ext cx="1536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15384" y="1673352"/>
            <a:ext cx="530352" cy="53035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67328" y="23042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67328" y="259689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Company 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comms retrieved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86016" y="2240280"/>
            <a:ext cx="219456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554480"/>
            <a:ext cx="1536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34456" y="1673352"/>
            <a:ext cx="530352" cy="530352"/>
          </a:xfrm>
          <a:prstGeom prst="ellipse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3042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259689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findings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1554480"/>
            <a:ext cx="1536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3528" y="1673352"/>
            <a:ext cx="530352" cy="53035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3528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05472" y="23042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259689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· Hold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566160"/>
            <a:ext cx="1572768" cy="1389888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566160"/>
            <a:ext cx="1572768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758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DOCX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3986784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changed · Red = deleted · Green = added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93392" y="3566160"/>
            <a:ext cx="1572768" cy="1389888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993392" y="3566160"/>
            <a:ext cx="1572768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84832" y="36758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Findings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84832" y="3986784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for integration with any system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12464" y="3566160"/>
            <a:ext cx="1572768" cy="1389888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12464" y="3566160"/>
            <a:ext cx="1572768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03904" y="36758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Email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03904" y="3986784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 to reviewers and submitters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31536" y="3566160"/>
            <a:ext cx="1572768" cy="1389888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31536" y="3566160"/>
            <a:ext cx="1572768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22976" y="36758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22976" y="3986784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— examiner-ready on day one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50608" y="3566160"/>
            <a:ext cx="1572768" cy="1389888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50608" y="3566160"/>
            <a:ext cx="1572768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36758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42048" y="3986784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trends, top issues, submission history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5029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in 3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2697480" cy="502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1536192"/>
            <a:ext cx="530352" cy="53035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2468880" cy="1170432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578608"/>
            <a:ext cx="23591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ANTHROPIC_API_KEY to .env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All dependencies in one requirements.txt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417320"/>
            <a:ext cx="2697480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536192"/>
            <a:ext cx="530352" cy="53035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64992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Platform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523744"/>
            <a:ext cx="2468880" cy="1170432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2578608"/>
            <a:ext cx="23591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ui/app.py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Opens at http://localhost:8501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 in: compliance@company.com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3749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users seeded automatically on first run — password: password123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141732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1417320"/>
            <a:ext cx="2697480" cy="50292"/>
          </a:xfrm>
          <a:prstGeom prst="rect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1536192"/>
            <a:ext cx="530352" cy="530352"/>
          </a:xfrm>
          <a:prstGeom prst="ellipse">
            <a:avLst/>
          </a:prstGeom>
          <a:solidFill>
            <a:srgbClr val="7C86E2"/>
          </a:solidFill>
          <a:ln w="12700">
            <a:solidFill>
              <a:srgbClr val="7C8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45352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Knowledge Base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523744"/>
            <a:ext cx="2468880" cy="1170432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578608"/>
            <a:ext cx="23591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platform: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Regulations → click preset buttons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Company Memory → bulk load test docs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CLI: python -m monitor.reg_monitor --seed 'My Company'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4828032"/>
            <a:ext cx="8449056" cy="219456"/>
          </a:xfrm>
          <a:prstGeom prst="rect">
            <a:avLst/>
          </a:prstGeom>
          <a:solidFill>
            <a:srgbClr val="EEF4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github.com/avika124/Card_   ·   All 4 stacks included: Streamlit · FastAPI · Node.js · CLI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54864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2592" y="54864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61504" y="54864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0416" y="54864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54864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115568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22592" y="1115568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1504" y="1115568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115568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9328" y="1115568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682496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1682496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1504" y="1682496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0416" y="1682496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682496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249424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22592" y="2249424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2249424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0416" y="2249424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2249424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816352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2816352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61504" y="2816352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0416" y="2816352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2816352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38328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2592" y="338328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1504" y="338328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0416" y="338328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9328" y="3383280"/>
            <a:ext cx="64008" cy="64008"/>
          </a:xfrm>
          <a:prstGeom prst="ellipse">
            <a:avLst/>
          </a:prstGeom>
          <a:solidFill>
            <a:srgbClr val="2E4880"/>
          </a:solidFill>
          <a:ln w="12700">
            <a:solidFill>
              <a:srgbClr val="2E48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50292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 your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workflow?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384048" y="1938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compliance team needs — in one AI-powered platform.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" y="23957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9 regulatory frameworks — citations, not just flags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" y="2724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Company memory — catches contradictions with prior comms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4048" y="30540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Full review workflow — submit, review, approve, audit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" y="3383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Regulatory monitor — live alerts when rules change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4048" y="37124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Analytics + audit log — exam-ready from day one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4048" y="40416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REST API — integrates with any existing system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4048" y="4663440"/>
            <a:ext cx="6583680" cy="320040"/>
          </a:xfrm>
          <a:prstGeom prst="rect">
            <a:avLst/>
          </a:prstGeom>
          <a:solidFill>
            <a:srgbClr val="2A9D8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4048" y="4663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github.com/avika124/Card_  ·  streamlit run ui/app.py  ·  Sign in: compliance@company.com / password123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Compliance Platform</dc:title>
  <dc:subject>PptxGenJS Presentation</dc:subject>
  <dc:creator>Compliance Platform</dc:creator>
  <cp:lastModifiedBy>Compliance Platform</cp:lastModifiedBy>
  <cp:revision>1</cp:revision>
  <dcterms:created xsi:type="dcterms:W3CDTF">2026-04-06T20:45:10Z</dcterms:created>
  <dcterms:modified xsi:type="dcterms:W3CDTF">2026-04-06T20:45:10Z</dcterms:modified>
</cp:coreProperties>
</file>